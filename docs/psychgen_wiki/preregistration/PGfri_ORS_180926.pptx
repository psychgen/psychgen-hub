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388" r:id="rId2"/>
    <p:sldId id="389" r:id="rId3"/>
    <p:sldId id="358" r:id="rId4"/>
    <p:sldId id="360" r:id="rId5"/>
    <p:sldId id="361" r:id="rId6"/>
    <p:sldId id="392" r:id="rId7"/>
    <p:sldId id="363" r:id="rId8"/>
    <p:sldId id="393" r:id="rId9"/>
    <p:sldId id="394" r:id="rId10"/>
    <p:sldId id="390" r:id="rId11"/>
    <p:sldId id="395" r:id="rId12"/>
    <p:sldId id="391" r:id="rId13"/>
    <p:sldId id="396" r:id="rId14"/>
    <p:sldId id="397" r:id="rId15"/>
    <p:sldId id="402" r:id="rId16"/>
    <p:sldId id="403" r:id="rId17"/>
    <p:sldId id="405" r:id="rId18"/>
    <p:sldId id="404" r:id="rId19"/>
    <p:sldId id="406" r:id="rId20"/>
    <p:sldId id="408" r:id="rId21"/>
    <p:sldId id="411" r:id="rId22"/>
    <p:sldId id="412" r:id="rId23"/>
    <p:sldId id="410" r:id="rId24"/>
    <p:sldId id="409" r:id="rId25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C4541C"/>
    <a:srgbClr val="00B5E0"/>
    <a:srgbClr val="585F49"/>
    <a:srgbClr val="B09E86"/>
    <a:srgbClr val="E78AC3"/>
    <a:srgbClr val="FFD92F"/>
    <a:srgbClr val="BEAED4"/>
    <a:srgbClr val="EDEDED"/>
    <a:srgbClr val="91D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29"/>
    <p:restoredTop sz="94714"/>
  </p:normalViewPr>
  <p:slideViewPr>
    <p:cSldViewPr snapToGrid="0">
      <p:cViewPr varScale="1">
        <p:scale>
          <a:sx n="99" d="100"/>
          <a:sy n="99" d="100"/>
        </p:scale>
        <p:origin x="1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3B0B2B-A666-5BB1-528F-66B3CC567B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0F7B4-0DC9-1BB1-C549-FE73786E33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68AD0-92A7-E149-8A7E-E1C2D165FD64}" type="datetimeFigureOut">
              <a:rPr lang="en-NO" smtClean="0"/>
              <a:t>18/09/2026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194D3-2059-1592-FF5E-B03912C809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6457-35F8-63F0-ED58-2E15F7184F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67FD9-ECAA-464B-92CA-43B82620A80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04821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A01B1-2B21-0F46-9918-080A95314EE9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1FF9F-87FB-6C49-9D43-5FB6160E6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61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11F2-0990-FDFA-F77F-0F6104C5C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600" b="1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77855-7F38-7884-0F3B-769203486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20C5C-ED91-6FA0-8BBE-0E084F48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425D3-B7C6-CF41-B93C-44507D87B574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2D00A-A70E-9BF5-DBD4-04D9EB9C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53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C878-383C-FB34-E589-13EDD6D54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latin typeface="Plus Jakarta Sans" pitchFamily="2" charset="77"/>
                <a:cs typeface="Plus Jakarta Sans" pitchFamily="2" charset="77"/>
              </a:defRPr>
            </a:lvl1pPr>
            <a:lvl2pPr>
              <a:defRPr sz="1800">
                <a:latin typeface="Plus Jakarta Sans" pitchFamily="2" charset="77"/>
                <a:cs typeface="Plus Jakarta Sans" pitchFamily="2" charset="77"/>
              </a:defRPr>
            </a:lvl2pPr>
            <a:lvl3pPr>
              <a:defRPr sz="1600">
                <a:latin typeface="Plus Jakarta Sans" pitchFamily="2" charset="77"/>
                <a:cs typeface="Plus Jakarta Sans" pitchFamily="2" charset="77"/>
              </a:defRPr>
            </a:lvl3pPr>
            <a:lvl4pPr>
              <a:defRPr sz="1400">
                <a:latin typeface="Plus Jakarta Sans" pitchFamily="2" charset="77"/>
                <a:cs typeface="Plus Jakarta Sans" pitchFamily="2" charset="77"/>
              </a:defRPr>
            </a:lvl4pPr>
            <a:lvl5pPr>
              <a:defRPr sz="1400">
                <a:latin typeface="Plus Jakarta Sans" pitchFamily="2" charset="77"/>
                <a:cs typeface="Plus Jakarta Sans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24255-F35B-DEB5-10F9-F4E80E9C92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265" r="26971"/>
          <a:stretch>
            <a:fillRect/>
          </a:stretch>
        </p:blipFill>
        <p:spPr>
          <a:xfrm rot="5400000">
            <a:off x="2551699" y="2573965"/>
            <a:ext cx="1708980" cy="685909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FABD788E-1617-22CB-71A3-50BDD7C2664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AAE77-FDC1-96B6-0904-6E1E40D8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2D04DE-95EB-30ED-123B-01F3B81EA2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114105" y="6318026"/>
            <a:ext cx="1059417" cy="68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F631048-4A52-CE2C-2E85-C3A9E5D713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36833" y="6449354"/>
            <a:ext cx="10594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C0D73-F9BF-6A72-2E25-59314FB5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6189" y="9319286"/>
            <a:ext cx="806032" cy="104918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618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83DD-D803-B093-55A9-40EEF462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66B95-E446-F9EF-27F9-AB1F43787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9E01A-B38E-E7E8-690C-1D56E94E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0014-CD19-2F4D-8776-CB35E39326BD}" type="datetime1">
              <a:rPr lang="nb-NO" smtClean="0"/>
              <a:t>18.09.2026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DB8D6-CFA1-9CF6-22D2-5C00DE3AA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265"/>
          <a:stretch>
            <a:fillRect/>
          </a:stretch>
        </p:blipFill>
        <p:spPr>
          <a:xfrm rot="5400000">
            <a:off x="2311038" y="2309948"/>
            <a:ext cx="2237014" cy="685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54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8214-B705-3A9B-34D8-7DCDC5F3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9EE5-E324-C85B-8E21-6C0C8B45B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781DF-2506-3040-933D-0251B6E46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58266-B88D-0712-57D7-670E180E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8165-E491-DE44-BD4C-BA320B340968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04B93-0FF9-C3F0-5AC3-442EF72EA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6228D-5AD2-5D6A-1B49-F1197CAE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72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0978-2032-1625-0D6C-41D88B3E6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11E21-1B3F-C60B-6AE7-871895FE5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8ACFE-E882-D3DA-EBB4-3B5794170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FAAF0-1150-4AA4-2F78-386203921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3D34B-4F66-F66E-0673-A4175424E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85D6A-B5A1-D067-03B0-CA7394C4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E95D-EA44-E64C-9D22-804088164EC1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586AD-0186-0C77-50DC-7AC44F9D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C8ABE-400C-6032-1691-720F0D0E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94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F8A8-BD41-6362-6E46-7733C0E4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65310-FCDB-5F31-7B29-26ADCA56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2E49-9B24-F74E-BF4A-BF588CF181F9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6B83C-AE48-4278-1B6E-CF51EDBC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7E423-DD26-9505-4793-62833FE0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44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EC9DE-053C-120D-BAB4-65F0A4C8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FEF5-256E-BB48-B644-76F083A8C2D5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A9F78-B853-EDB8-0535-5A541BDF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778EA-00B5-F810-0CEE-694E0145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54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1720-A40D-9EE4-F775-F067D1FF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A915-3A46-FF1D-AF5B-772CB686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61080-5373-4661-2E78-3BBA0A2D9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82E21-AFA7-2271-B71F-E90889FB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AC2-9170-6A4D-9876-1EA30C97976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A6D1D-A87E-8EBB-8621-F81740C0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B5805-E010-3324-ED3F-615383E5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32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C4D-84B1-3347-257E-81B3DDC5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7CF25-CB04-414B-9F0C-3318E64B4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CB563-3A56-C31F-8C7C-F4081317C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BDF9D-1D2D-6505-019C-FAC9F043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74562-86EA-334B-9044-7FDAD138899E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71860-2677-3DFD-BFA8-AC5567FC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D41F5-F5AD-0602-D590-7BB99B44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20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72A0-CC31-8FAF-D0E8-1A512E50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AF675-C861-E50F-3BB9-4EF322879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D0C71-831F-8B7C-2BA5-ED6C8933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86FF-1D7F-B84F-8186-DA52C4D247DA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4D10B-00E2-688E-9192-7E00A97C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5E3C6-D304-D7BA-1A11-3BA3CDE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30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D7548-7A54-71A2-70CF-A478C33AE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73C92-B624-770D-377B-700141E21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5EB1D-4E87-8D49-F900-308E71F7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0C99E-D26E-AA42-94BC-431ADE8BCE8C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F46DB-3E05-6085-5BBE-9569331A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7DFA7-458B-4606-90DC-C97D1F42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CBFD77-58E1-AA42-BF57-1329F6B30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80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1217E-F73D-3661-9DEB-F16C6F1F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E1558-259E-6E5C-4528-F21C05B79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018B1-7B3E-DEE7-E15E-998813D6D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fld id="{C7FADBDD-4779-B449-BA7F-3445A006B797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E0267-C86C-0660-B42D-326E5D7C2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98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ordia New" panose="020B0304020202020204" pitchFamily="34" charset="-34"/>
          <a:ea typeface="+mj-ea"/>
          <a:cs typeface="Cordia New" panose="020B0304020202020204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rdia New" panose="020B0304020202020204" pitchFamily="34" charset="-34"/>
          <a:ea typeface="+mn-ea"/>
          <a:cs typeface="Cordia New" panose="020B0304020202020204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rdia New" panose="020B0304020202020204" pitchFamily="34" charset="-34"/>
          <a:ea typeface="+mn-ea"/>
          <a:cs typeface="Cordia New" panose="020B0304020202020204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rdia New" panose="020B0304020202020204" pitchFamily="34" charset="-34"/>
          <a:ea typeface="+mn-ea"/>
          <a:cs typeface="Cordia New" panose="020B0304020202020204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rdia New" panose="020B0304020202020204" pitchFamily="34" charset="-34"/>
          <a:ea typeface="+mn-ea"/>
          <a:cs typeface="Cordia New" panose="020B0304020202020204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rdia New" panose="020B0304020202020204" pitchFamily="34" charset="-34"/>
          <a:ea typeface="+mn-ea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sychgen.netlify.app/docs/psychgen_wiki/preregistration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c2ter/overview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search?search=PsychGen&amp;tab=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mbridge.org/core/journals/psychological-medicine/article/genotypeenvironment-interplay-in-associations-between-maternal-drinking-and-offspring-emotional-and-behavioral-problems/B1CFDA0F915BEDBC080A6EF3D8C421A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sychgen/scz-prs-psychopathol-dev/blob/1.0.0/CITATION.cf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DDC67E4D-3892-B5F7-C858-34292E8A0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83413" y="5611453"/>
            <a:ext cx="2308587" cy="148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B04C93AC-0D77-013E-F0B7-8362BA988F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233834" cy="68590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21283D-23AB-6862-4486-A5C189BF1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8200" y="248755"/>
            <a:ext cx="7020320" cy="4723295"/>
          </a:xfrm>
        </p:spPr>
        <p:txBody>
          <a:bodyPr>
            <a:noAutofit/>
          </a:bodyPr>
          <a:lstStyle/>
          <a:p>
            <a:pPr algn="r"/>
            <a:r>
              <a:rPr lang="en-NO" sz="3600" b="0" dirty="0">
                <a:latin typeface="Plus Jakarta Sans" pitchFamily="2" charset="77"/>
                <a:cs typeface="Plus Jakarta Sans" pitchFamily="2" charset="77"/>
              </a:rPr>
              <a:t>Update on best practices in preregistration and code sharing</a:t>
            </a:r>
            <a:br>
              <a:rPr lang="en-NO" sz="3600" b="0" dirty="0">
                <a:latin typeface="Plus Jakarta Sans" pitchFamily="2" charset="77"/>
                <a:cs typeface="Plus Jakarta Sans" pitchFamily="2" charset="77"/>
              </a:rPr>
            </a:br>
            <a:br>
              <a:rPr lang="en-NO" sz="3600" b="0" dirty="0">
                <a:latin typeface="Plus Jakarta Sans" pitchFamily="2" charset="77"/>
                <a:cs typeface="Plus Jakarta Sans" pitchFamily="2" charset="77"/>
              </a:rPr>
            </a:br>
            <a:r>
              <a:rPr lang="en-NO" sz="1800" b="0" dirty="0">
                <a:latin typeface="Plus Jakarta Sans" pitchFamily="2" charset="77"/>
                <a:cs typeface="Plus Jakarta Sans" pitchFamily="2" charset="77"/>
              </a:rPr>
              <a:t>PsychGen Friday meeting, 18 September 2026</a:t>
            </a:r>
            <a:br>
              <a:rPr lang="en-NO" sz="1800" b="0" dirty="0">
                <a:latin typeface="Plus Jakarta Sans" pitchFamily="2" charset="77"/>
                <a:cs typeface="Plus Jakarta Sans" pitchFamily="2" charset="77"/>
              </a:rPr>
            </a:br>
            <a:r>
              <a:rPr lang="en-NO" sz="1800" b="0" dirty="0">
                <a:latin typeface="Plus Jakarta Sans" pitchFamily="2" charset="77"/>
                <a:cs typeface="Plus Jakarta Sans" pitchFamily="2" charset="77"/>
              </a:rPr>
              <a:t> </a:t>
            </a:r>
            <a:endParaRPr lang="en-NO" sz="3600" b="0" dirty="0">
              <a:latin typeface="Plus Jakarta Sans" pitchFamily="2" charset="77"/>
              <a:cs typeface="Plus Jakarta Sans" pitchFamily="2" charset="7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7F095D-2D8C-E941-89FF-D4A51795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3726" y="6010490"/>
            <a:ext cx="1999687" cy="68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28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B5D8-9811-14D7-8D5D-C764F9C5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AB403-42AE-5F3C-5D13-7CAE421B8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NO" dirty="0"/>
              <a:t>Linking to and citing preregistrations </a:t>
            </a:r>
          </a:p>
          <a:p>
            <a:pPr lvl="1"/>
            <a:r>
              <a:rPr lang="en-NO" dirty="0"/>
              <a:t>Also mention changes to OSF and what this means for PsychGen</a:t>
            </a:r>
          </a:p>
          <a:p>
            <a:pPr lvl="1"/>
            <a:r>
              <a:rPr lang="en-NO" dirty="0"/>
              <a:t>Add PsychGen tag to preregistration</a:t>
            </a:r>
          </a:p>
          <a:p>
            <a:pPr lvl="0"/>
            <a:r>
              <a:rPr lang="en-NO" dirty="0"/>
              <a:t>Preserving and citing analyic code </a:t>
            </a:r>
          </a:p>
          <a:p>
            <a:pPr lvl="0"/>
            <a:r>
              <a:rPr lang="en-NO" dirty="0"/>
              <a:t>Including citation file in GitHub</a:t>
            </a:r>
          </a:p>
          <a:p>
            <a:pPr lvl="0"/>
            <a:r>
              <a:rPr lang="en-NO" dirty="0"/>
              <a:t>Other </a:t>
            </a:r>
          </a:p>
          <a:p>
            <a:pPr lvl="1"/>
            <a:r>
              <a:rPr lang="en-NO" dirty="0"/>
              <a:t>Common mistakes/pitfalls with publishing agreements</a:t>
            </a:r>
          </a:p>
          <a:p>
            <a:pPr lvl="1"/>
            <a:r>
              <a:rPr lang="en-NO" dirty="0"/>
              <a:t>Updates on OA agreements?</a:t>
            </a:r>
          </a:p>
          <a:p>
            <a:pPr marL="0" indent="0">
              <a:buNone/>
            </a:pPr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00064-C9FB-D032-520E-D7321466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34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808EA-20D9-501E-DB19-D181EB19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When is preregistration important?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C17FD-2162-32FA-8A57-74CB7175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DA33C-D8B4-F817-FCC0-77B3F6E1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A76964-905B-B884-839B-F9953CFE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339347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CC8A2-C5B2-289E-0D6C-6475D8AF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D3EE-752B-2587-BD76-22D33DB2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When is preregistration important?</a:t>
            </a:r>
          </a:p>
          <a:p>
            <a:pPr marL="0" indent="0">
              <a:buNone/>
            </a:pPr>
            <a:endParaRPr lang="en-NO" dirty="0"/>
          </a:p>
          <a:p>
            <a:pPr marL="0" indent="0" algn="r">
              <a:buNone/>
            </a:pPr>
            <a:r>
              <a:rPr lang="en-NO" dirty="0">
                <a:solidFill>
                  <a:srgbClr val="C00000"/>
                </a:solidFill>
              </a:rPr>
              <a:t>…when using null hypothesis significance testing (NHST)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39A55-A4D7-E8FC-70FE-119F2A40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1DD59-31D2-F20B-7486-D3B1BA8D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83D840-6F31-22DD-C5D7-029C4429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356329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89D0-DCD1-6980-D463-2644C479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D9E0-A9ED-774A-DAD1-1FC0B24F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When…. am I using </a:t>
            </a:r>
            <a:r>
              <a:rPr lang="en-GB" dirty="0"/>
              <a:t>null hypothesis significance testing (NHST)</a:t>
            </a:r>
            <a:r>
              <a:rPr lang="en-NO" dirty="0"/>
              <a:t>?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FB12E-52D3-1D67-C4FC-526FA47E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6D102-765D-1773-8541-1ACB95BC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F38A78C-6894-153B-7156-EAACDFE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371429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4614-38C8-E746-1B74-C2C20648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E39A-15B3-5821-6FB1-FDA0AB83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When…. am I using </a:t>
            </a:r>
            <a:r>
              <a:rPr lang="en-GB" dirty="0"/>
              <a:t>null hypothesis significance testing (NHST)</a:t>
            </a:r>
            <a:r>
              <a:rPr lang="en-NO" dirty="0"/>
              <a:t>?</a:t>
            </a:r>
          </a:p>
          <a:p>
            <a:pPr marL="0" indent="0">
              <a:buNone/>
            </a:pPr>
            <a:endParaRPr lang="en-NO" dirty="0"/>
          </a:p>
          <a:p>
            <a:pPr marL="0" indent="0" algn="r">
              <a:buNone/>
            </a:pPr>
            <a:r>
              <a:rPr lang="en-NO" dirty="0">
                <a:solidFill>
                  <a:srgbClr val="C00000"/>
                </a:solidFill>
              </a:rPr>
              <a:t>Whenever you, your readers, your co-authors, your loved ones – intentionally or unintentionally – use </a:t>
            </a:r>
            <a:r>
              <a:rPr lang="en-NO" i="1" dirty="0">
                <a:solidFill>
                  <a:srgbClr val="C00000"/>
                </a:solidFill>
              </a:rPr>
              <a:t>p </a:t>
            </a:r>
            <a:r>
              <a:rPr lang="en-NO" dirty="0">
                <a:solidFill>
                  <a:srgbClr val="C00000"/>
                </a:solidFill>
              </a:rPr>
              <a:t>values</a:t>
            </a:r>
            <a:r>
              <a:rPr lang="en-NO" i="1" dirty="0">
                <a:solidFill>
                  <a:srgbClr val="C00000"/>
                </a:solidFill>
              </a:rPr>
              <a:t> </a:t>
            </a:r>
            <a:r>
              <a:rPr lang="en-NO" dirty="0">
                <a:solidFill>
                  <a:srgbClr val="C00000"/>
                </a:solidFill>
              </a:rPr>
              <a:t>to</a:t>
            </a:r>
            <a:r>
              <a:rPr lang="en-NO" i="1" dirty="0">
                <a:solidFill>
                  <a:srgbClr val="C00000"/>
                </a:solidFill>
              </a:rPr>
              <a:t> </a:t>
            </a:r>
            <a:r>
              <a:rPr lang="en-NO" dirty="0">
                <a:solidFill>
                  <a:srgbClr val="C00000"/>
                </a:solidFill>
              </a:rPr>
              <a:t>draw inferences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ED799-FB86-62B2-2B2F-D1B6C3CC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96A52-0773-7C9B-D1F0-D5B0248A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56A215-7ABC-6B0A-3477-70994D2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45172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D965-EA6F-8C05-FE1D-13B1D5FB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46F7-7B9C-9D8B-B912-0F0CBF446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When…. am I using </a:t>
            </a:r>
            <a:r>
              <a:rPr lang="en-GB" dirty="0"/>
              <a:t>null hypothesis significance testing (NHST)</a:t>
            </a:r>
            <a:r>
              <a:rPr lang="en-NO" dirty="0"/>
              <a:t>?</a:t>
            </a:r>
          </a:p>
          <a:p>
            <a:pPr marL="0" indent="0">
              <a:buNone/>
            </a:pPr>
            <a:endParaRPr lang="en-NO" dirty="0"/>
          </a:p>
          <a:p>
            <a:pPr marL="0" indent="0" algn="r">
              <a:buNone/>
            </a:pPr>
            <a:r>
              <a:rPr lang="en-NO" dirty="0">
                <a:solidFill>
                  <a:srgbClr val="C00000"/>
                </a:solidFill>
              </a:rPr>
              <a:t>Whenever you, your readers, your co-authors, your loved ones – intentionally or unintentionally – use </a:t>
            </a:r>
            <a:r>
              <a:rPr lang="en-NO" i="1" dirty="0">
                <a:solidFill>
                  <a:srgbClr val="C00000"/>
                </a:solidFill>
              </a:rPr>
              <a:t>p </a:t>
            </a:r>
            <a:r>
              <a:rPr lang="en-NO" dirty="0">
                <a:solidFill>
                  <a:srgbClr val="C00000"/>
                </a:solidFill>
              </a:rPr>
              <a:t>values*</a:t>
            </a:r>
            <a:r>
              <a:rPr lang="en-NO" i="1" dirty="0">
                <a:solidFill>
                  <a:srgbClr val="C00000"/>
                </a:solidFill>
              </a:rPr>
              <a:t> </a:t>
            </a:r>
            <a:r>
              <a:rPr lang="en-NO" dirty="0">
                <a:solidFill>
                  <a:srgbClr val="C00000"/>
                </a:solidFill>
              </a:rPr>
              <a:t>to</a:t>
            </a:r>
            <a:r>
              <a:rPr lang="en-NO" i="1" dirty="0">
                <a:solidFill>
                  <a:srgbClr val="C00000"/>
                </a:solidFill>
              </a:rPr>
              <a:t> </a:t>
            </a:r>
            <a:r>
              <a:rPr lang="en-NO" dirty="0">
                <a:solidFill>
                  <a:srgbClr val="C00000"/>
                </a:solidFill>
              </a:rPr>
              <a:t>draw inferences</a:t>
            </a:r>
          </a:p>
          <a:p>
            <a:pPr marL="0" indent="0" algn="r">
              <a:buNone/>
            </a:pPr>
            <a:endParaRPr lang="en-NO" dirty="0">
              <a:solidFill>
                <a:srgbClr val="C00000"/>
              </a:solidFill>
            </a:endParaRPr>
          </a:p>
          <a:p>
            <a:pPr marL="0" indent="0" algn="r">
              <a:buNone/>
            </a:pPr>
            <a:endParaRPr lang="en-NO" dirty="0">
              <a:solidFill>
                <a:srgbClr val="C00000"/>
              </a:solidFill>
            </a:endParaRPr>
          </a:p>
          <a:p>
            <a:pPr marL="0" indent="0" algn="r">
              <a:buNone/>
            </a:pPr>
            <a:r>
              <a:rPr lang="en-NO" dirty="0">
                <a:solidFill>
                  <a:srgbClr val="C00000"/>
                </a:solidFill>
              </a:rPr>
              <a:t>*or 95% CIs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F4A9A-B825-CE35-590B-90B11B39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ED074-7AB3-1BBF-EEAE-CDC35DAE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84619C-9730-2571-EB71-45C48D02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122931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BC41-FA95-A776-380F-BA96E579D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6974-E273-8437-C4BE-987FDB73E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And </a:t>
            </a:r>
            <a:r>
              <a:rPr lang="nb-NO" dirty="0" err="1"/>
              <a:t>if</a:t>
            </a:r>
            <a:r>
              <a:rPr lang="nb-NO" dirty="0"/>
              <a:t> not</a:t>
            </a:r>
            <a:r>
              <a:rPr lang="en-NO" dirty="0"/>
              <a:t>?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8BD2E-A5B1-B6D1-3D8D-21D7E0ED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EDA60-6780-9F46-F894-D57D56D6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96FAD0-20E8-B4E8-F957-75B171BA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178623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3E60-40B5-27AD-3422-29AD531C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C31B-33EF-0A9F-0728-2E3725F9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And </a:t>
            </a:r>
            <a:r>
              <a:rPr lang="nb-NO" dirty="0" err="1"/>
              <a:t>if</a:t>
            </a:r>
            <a:r>
              <a:rPr lang="nb-NO" dirty="0"/>
              <a:t> not</a:t>
            </a:r>
            <a:r>
              <a:rPr lang="en-NO" dirty="0"/>
              <a:t>?</a:t>
            </a:r>
          </a:p>
          <a:p>
            <a:pPr marL="0" indent="0">
              <a:buNone/>
            </a:pPr>
            <a:endParaRPr lang="en-NO" dirty="0"/>
          </a:p>
          <a:p>
            <a:pPr marL="4578350" indent="0">
              <a:buNone/>
            </a:pPr>
            <a:r>
              <a:rPr lang="en-NO" dirty="0">
                <a:solidFill>
                  <a:srgbClr val="C00000"/>
                </a:solidFill>
              </a:rPr>
              <a:t>Preregistration helps with:</a:t>
            </a:r>
          </a:p>
          <a:p>
            <a:pPr marL="4578350" indent="0">
              <a:buNone/>
            </a:pPr>
            <a:endParaRPr lang="en-NO" dirty="0">
              <a:solidFill>
                <a:srgbClr val="C00000"/>
              </a:solidFill>
            </a:endParaRPr>
          </a:p>
          <a:p>
            <a:pPr marL="4578350" indent="0"/>
            <a:r>
              <a:rPr lang="en-NO" dirty="0">
                <a:solidFill>
                  <a:srgbClr val="C00000"/>
                </a:solidFill>
              </a:rPr>
              <a:t>Identifying problems early</a:t>
            </a:r>
          </a:p>
          <a:p>
            <a:pPr marL="4578350" indent="0"/>
            <a:r>
              <a:rPr lang="en-NO" dirty="0">
                <a:solidFill>
                  <a:srgbClr val="C00000"/>
                </a:solidFill>
              </a:rPr>
              <a:t>Giving you a clear plan to work from</a:t>
            </a:r>
          </a:p>
          <a:p>
            <a:pPr marL="4578350" indent="0"/>
            <a:r>
              <a:rPr lang="en-NO" dirty="0">
                <a:solidFill>
                  <a:srgbClr val="C00000"/>
                </a:solidFill>
              </a:rPr>
              <a:t>Convincing reviewers and readers of your </a:t>
            </a:r>
          </a:p>
          <a:p>
            <a:pPr marL="4578350" indent="0">
              <a:buNone/>
            </a:pPr>
            <a:r>
              <a:rPr lang="en-NO" dirty="0">
                <a:solidFill>
                  <a:srgbClr val="C00000"/>
                </a:solidFill>
              </a:rPr>
              <a:t>thoroughness and dilligence</a:t>
            </a:r>
          </a:p>
          <a:p>
            <a:pPr marL="4578350" indent="0"/>
            <a:r>
              <a:rPr lang="en-NO" dirty="0">
                <a:solidFill>
                  <a:srgbClr val="C00000"/>
                </a:solidFill>
              </a:rPr>
              <a:t>Providing a citable marker of project progress</a:t>
            </a:r>
          </a:p>
          <a:p>
            <a:pPr marL="457835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CF5FD-1B02-0E91-137B-2C411643A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COPSYCH symposium 2023 | laurie.hannigan@lds.no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92456-2B40-6593-9DA5-6BE86EE4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80" y="64407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N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FD77-58E1-AA42-BF57-1329F6B306BB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3B3DEC-203C-F12B-C11C-076EFC62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Preregistration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234297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458704-FADA-16BF-31CE-40C03F9C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NO" dirty="0"/>
              <a:t>Make sure your preregistration </a:t>
            </a:r>
            <a:r>
              <a:rPr lang="en-NO" i="1" dirty="0"/>
              <a:t>is</a:t>
            </a:r>
            <a:r>
              <a:rPr lang="en-NO" dirty="0"/>
              <a:t> a preregistration</a:t>
            </a:r>
          </a:p>
          <a:p>
            <a:pPr marL="0" indent="0">
              <a:buNone/>
            </a:pPr>
            <a:endParaRPr lang="en-NO" dirty="0"/>
          </a:p>
          <a:p>
            <a:pPr marL="457200" indent="-457200">
              <a:buFont typeface="+mj-lt"/>
              <a:buAutoNum type="arabicPeriod"/>
            </a:pPr>
            <a:endParaRPr lang="en-NO" dirty="0"/>
          </a:p>
          <a:p>
            <a:pPr marL="457200" indent="-457200">
              <a:buFont typeface="+mj-lt"/>
              <a:buAutoNum type="arabicPeriod"/>
            </a:pPr>
            <a:endParaRPr lang="en-NO" dirty="0"/>
          </a:p>
          <a:p>
            <a:pPr marL="0" indent="0">
              <a:buNone/>
            </a:pPr>
            <a:r>
              <a:rPr lang="en-GB" dirty="0">
                <a:hlinkClick r:id="rId2"/>
              </a:rPr>
              <a:t>https://psychgen.netlify.app/docs/psychgen_wiki/preregistration.html</a:t>
            </a:r>
            <a:r>
              <a:rPr lang="en-GB" dirty="0"/>
              <a:t> </a:t>
            </a:r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5A395-8BEA-508A-338D-E2FD0A24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Preregistration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0742B-026F-7581-4662-55AD1307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73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CC51B-C30C-DB66-565D-68B4A7505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NO" dirty="0"/>
              <a:t>Cite your preregistration correctly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r>
              <a:rPr lang="en-GB" dirty="0">
                <a:hlinkClick r:id="rId2"/>
              </a:rPr>
              <a:t>https://osf.io/c2ter/overview</a:t>
            </a:r>
            <a:r>
              <a:rPr lang="en-GB" dirty="0"/>
              <a:t> </a:t>
            </a:r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6BAE68-8614-5B0F-9522-72A17244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Preregistration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D59E7-6CAC-3C05-210E-130A815B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910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7AF3-C966-65C0-756B-C451578D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D67536-6DDA-EEA9-2E44-A8D9F861A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NO" dirty="0"/>
              <a:t>Add a </a:t>
            </a:r>
            <a:r>
              <a:rPr lang="en-NO" dirty="0">
                <a:solidFill>
                  <a:schemeClr val="accent2">
                    <a:lumMod val="75000"/>
                  </a:schemeClr>
                </a:solidFill>
              </a:rPr>
              <a:t>psychgen</a:t>
            </a:r>
            <a:r>
              <a:rPr lang="en-NO" dirty="0"/>
              <a:t> tag to all your preregistrations (do this retrospectively now!)</a:t>
            </a:r>
          </a:p>
          <a:p>
            <a:pPr marL="457200" indent="-457200">
              <a:buAutoNum type="arabicPeriod" startAt="3"/>
            </a:pPr>
            <a:endParaRPr lang="en-NO" dirty="0"/>
          </a:p>
          <a:p>
            <a:pPr marL="0" indent="0">
              <a:buNone/>
            </a:pPr>
            <a:r>
              <a:rPr lang="en-NO" i="1" dirty="0">
                <a:solidFill>
                  <a:schemeClr val="bg1">
                    <a:lumMod val="50000"/>
                  </a:schemeClr>
                </a:solidFill>
              </a:rPr>
              <a:t>Note: admin privileges needed here</a:t>
            </a:r>
          </a:p>
          <a:p>
            <a:pPr marL="457200" indent="-457200">
              <a:buFont typeface="+mj-lt"/>
              <a:buAutoNum type="arabicPeriod"/>
            </a:pPr>
            <a:endParaRPr lang="en-NO" dirty="0"/>
          </a:p>
          <a:p>
            <a:pPr marL="0" indent="0">
              <a:buNone/>
            </a:pPr>
            <a:r>
              <a:rPr lang="en-NO" dirty="0">
                <a:hlinkClick r:id="rId2"/>
              </a:rPr>
              <a:t>PsychGen preregistrations</a:t>
            </a:r>
            <a:r>
              <a:rPr lang="en-NO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7B2DCF-03AB-1B2B-AC0C-4BF5DED1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Preregistration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37FB6-C5BA-7FA1-069C-4576028C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32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AD31-991E-8B41-5587-D28D412B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E0816-858C-3FFF-3C11-122A70487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NO" dirty="0"/>
              <a:t>Link back the published paper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r>
              <a:rPr lang="en-GB" dirty="0">
                <a:hlinkClick r:id="rId2"/>
              </a:rPr>
              <a:t>https://www.cambridge.org/core/journals/psychological-medicine/article/genotypeenvironment-interplay-in-associations-between-maternal-drinking-and-offspring-emotional-and-behavioral-problems/B1CFDA0F915BEDBC080A6EF3D8C421AE</a:t>
            </a:r>
            <a:r>
              <a:rPr lang="en-GB" dirty="0"/>
              <a:t> </a:t>
            </a:r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B8908-DFFA-AAFC-90A0-17758B95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Preregistration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24999-0FCC-D6BA-A448-505B4DB23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939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C0243-EBEA-233C-4EB3-FA0E11BA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67E548-17F5-C43F-6F5E-9623AC25A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068625"/>
              </p:ext>
            </p:extLst>
          </p:nvPr>
        </p:nvGraphicFramePr>
        <p:xfrm>
          <a:off x="1499561" y="324819"/>
          <a:ext cx="6821315" cy="5905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4469">
                  <a:extLst>
                    <a:ext uri="{9D8B030D-6E8A-4147-A177-3AD203B41FA5}">
                      <a16:colId xmlns:a16="http://schemas.microsoft.com/office/drawing/2014/main" val="575135247"/>
                    </a:ext>
                  </a:extLst>
                </a:gridCol>
                <a:gridCol w="1816846">
                  <a:extLst>
                    <a:ext uri="{9D8B030D-6E8A-4147-A177-3AD203B41FA5}">
                      <a16:colId xmlns:a16="http://schemas.microsoft.com/office/drawing/2014/main" val="3107983693"/>
                    </a:ext>
                  </a:extLst>
                </a:gridCol>
              </a:tblGrid>
              <a:tr h="1470618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‹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400" dirty="0">
                          <a:latin typeface="Plus Jakarta Sans" pitchFamily="2" charset="77"/>
                          <a:cs typeface="Plus Jakarta Sans" pitchFamily="2" charset="77"/>
                        </a:rPr>
                        <a:t>Open publication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47452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Accessibility of research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269337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Description of methodological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077414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Specific detail on implementation of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01463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Transparency (self-certified by researchers)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98758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Possibility to explore consequences of researchers’ analytic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183745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Transparency (verifiable externally)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83107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Instructional/pedagogical value of shared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82976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Resulting potential for methodological development and innovation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2073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Basis for developing new code for replication 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437480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Facilitates post-publication dialogue regarding sensitivity analyses and robustness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550739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Protects participants’ privacy and data integrity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56031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B8A9993-55D0-3713-1BFC-A0755A54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119355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511B36-3E43-71A1-BDEA-9778363AD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622113"/>
              </p:ext>
            </p:extLst>
          </p:nvPr>
        </p:nvGraphicFramePr>
        <p:xfrm>
          <a:off x="1499561" y="324819"/>
          <a:ext cx="8638161" cy="5905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4469">
                  <a:extLst>
                    <a:ext uri="{9D8B030D-6E8A-4147-A177-3AD203B41FA5}">
                      <a16:colId xmlns:a16="http://schemas.microsoft.com/office/drawing/2014/main" val="575135247"/>
                    </a:ext>
                  </a:extLst>
                </a:gridCol>
                <a:gridCol w="1816846">
                  <a:extLst>
                    <a:ext uri="{9D8B030D-6E8A-4147-A177-3AD203B41FA5}">
                      <a16:colId xmlns:a16="http://schemas.microsoft.com/office/drawing/2014/main" val="3107983693"/>
                    </a:ext>
                  </a:extLst>
                </a:gridCol>
                <a:gridCol w="1816846">
                  <a:extLst>
                    <a:ext uri="{9D8B030D-6E8A-4147-A177-3AD203B41FA5}">
                      <a16:colId xmlns:a16="http://schemas.microsoft.com/office/drawing/2014/main" val="1931621334"/>
                    </a:ext>
                  </a:extLst>
                </a:gridCol>
              </a:tblGrid>
              <a:tr h="1470618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‹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400" dirty="0">
                          <a:latin typeface="Plus Jakarta Sans" pitchFamily="2" charset="77"/>
                          <a:cs typeface="Plus Jakarta Sans" pitchFamily="2" charset="77"/>
                        </a:rPr>
                        <a:t>Open publication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400" dirty="0">
                          <a:latin typeface="Plus Jakarta Sans" pitchFamily="2" charset="77"/>
                          <a:cs typeface="Plus Jakarta Sans" pitchFamily="2" charset="77"/>
                        </a:rPr>
                        <a:t>Open publication, open code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47452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Accessibility of research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269337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Description of methodological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077414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Specific detail on implementation of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01463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Transparency (self-certified by researchers)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98758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Possibility to explore consequences of researchers’ analytic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?*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183745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Transparency (verifiable externally)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?*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83107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Instructional/pedagogical value of shared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82976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Resulting potential for methodological development and innovation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++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2073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Basis for developing new code for replication 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?*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437480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Facilitates post-publication dialogue regarding sensitivity analyses and robustness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O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Plus Jakarta Sans" pitchFamily="2" charset="77"/>
                        <a:cs typeface="Plus Jakarta Sans" pitchFamily="2" charset="7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?*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550739"/>
                  </a:ext>
                </a:extLst>
              </a:tr>
              <a:tr h="400772">
                <a:tc>
                  <a:txBody>
                    <a:bodyPr/>
                    <a:lstStyle/>
                    <a:p>
                      <a:r>
                        <a:rPr lang="en-NO" sz="1100" dirty="0">
                          <a:latin typeface="Plus Jakarta Sans" pitchFamily="2" charset="77"/>
                          <a:cs typeface="Plus Jakarta Sans" pitchFamily="2" charset="77"/>
                        </a:rPr>
                        <a:t>Protects participants’ privacy and data integrity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O" sz="12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lus Jakarta Sans" pitchFamily="2" charset="77"/>
                          <a:cs typeface="Plus Jakarta Sans" pitchFamily="2" charset="77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560317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929A76-7EB7-B630-465C-830C4880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C9F3C-E40D-F10E-FE24-03FB8AC836D9}"/>
              </a:ext>
            </a:extLst>
          </p:cNvPr>
          <p:cNvSpPr txBox="1"/>
          <p:nvPr/>
        </p:nvSpPr>
        <p:spPr>
          <a:xfrm>
            <a:off x="10444766" y="5441878"/>
            <a:ext cx="1089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1200" dirty="0">
                <a:latin typeface="Plus Jakarta Sans" pitchFamily="2" charset="77"/>
                <a:cs typeface="Plus Jakarta Sans" pitchFamily="2" charset="77"/>
              </a:rPr>
              <a:t>*dependent on data sharing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CD07404-45E7-1E0A-36BF-D7B019CB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72" y="0"/>
            <a:ext cx="10515600" cy="1325563"/>
          </a:xfrm>
        </p:spPr>
        <p:txBody>
          <a:bodyPr/>
          <a:lstStyle/>
          <a:p>
            <a:r>
              <a:rPr lang="en-NO" dirty="0"/>
              <a:t>Code sharing – a reminder</a:t>
            </a:r>
          </a:p>
        </p:txBody>
      </p:sp>
    </p:spTree>
    <p:extLst>
      <p:ext uri="{BB962C8B-B14F-4D97-AF65-F5344CB8AC3E}">
        <p14:creationId xmlns:p14="http://schemas.microsoft.com/office/powerpoint/2010/main" val="936191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AB7825-0CEC-E28C-207C-D6CB3B4A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3101-497B-65E2-2897-0B1EF9D2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CE919-4661-9D90-8416-D2700B7C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316" y="2126902"/>
            <a:ext cx="5079800" cy="24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31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09CD-0AF5-1F07-79B4-6C2A2110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E12D21-ACAC-0DD3-4A9E-A202315C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44DCD-BDDA-0768-35DE-A1C3D0F0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88A8A-7BB6-3871-4846-9D54E4C0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316" y="2126902"/>
            <a:ext cx="5079800" cy="2414613"/>
          </a:xfrm>
          <a:prstGeom prst="rect">
            <a:avLst/>
          </a:prstGeom>
        </p:spPr>
      </p:pic>
      <p:sp>
        <p:nvSpPr>
          <p:cNvPr id="8" name="&quot;No&quot; Symbol 7">
            <a:extLst>
              <a:ext uri="{FF2B5EF4-FFF2-40B4-BE49-F238E27FC236}">
                <a16:creationId xmlns:a16="http://schemas.microsoft.com/office/drawing/2014/main" id="{8DED1D08-BC47-7621-8CEC-2154D9135024}"/>
              </a:ext>
            </a:extLst>
          </p:cNvPr>
          <p:cNvSpPr/>
          <p:nvPr/>
        </p:nvSpPr>
        <p:spPr>
          <a:xfrm>
            <a:off x="3554569" y="1481069"/>
            <a:ext cx="4262907" cy="4018209"/>
          </a:xfrm>
          <a:prstGeom prst="noSmoking">
            <a:avLst>
              <a:gd name="adj" fmla="val 8024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91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26241-0B4C-937C-A605-64BA8D68E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2E899-3DBC-19AD-506A-17A6D5A1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RIP GitHub, we hardly knew ye...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40CA2-8738-DDC3-5D42-2BCF42DD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92DF4-3FA1-3CFD-CF79-F952F2C8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01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2CDF-B94A-4AEE-6A68-70FB1036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544465-D239-20D4-DF7D-F43B3E107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RIP GitHub, we hardly knew ye...</a:t>
            </a:r>
          </a:p>
          <a:p>
            <a:endParaRPr lang="en-NO" dirty="0"/>
          </a:p>
          <a:p>
            <a:endParaRPr lang="en-NO" dirty="0"/>
          </a:p>
          <a:p>
            <a:pPr marL="0" indent="0">
              <a:buNone/>
            </a:pPr>
            <a:r>
              <a:rPr lang="en-NO" dirty="0"/>
              <a:t>(sort of)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BC310-26F8-487E-6BAC-EFC31058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03140-F697-8E78-170A-D4D1B62F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269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FBB9-C273-520C-666D-6E551596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840FD1-05C4-A88F-99A5-B9CD625EA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In papers, </a:t>
            </a:r>
            <a:r>
              <a:rPr lang="en-NO" b="1" dirty="0"/>
              <a:t>cite the stable code release supporting the published analyses</a:t>
            </a:r>
          </a:p>
          <a:p>
            <a:endParaRPr lang="en-NO" dirty="0"/>
          </a:p>
          <a:p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E99236-64B5-0374-FFC4-B5A6D784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CDFEC-775A-132A-6964-87B74C17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848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5E04-37CD-DD82-000D-A377729A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4A49CF-C04D-6E5F-BA93-5999CAA56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Workflow:</a:t>
            </a:r>
          </a:p>
          <a:p>
            <a:pPr lvl="1"/>
            <a:r>
              <a:rPr lang="en-NO" dirty="0"/>
              <a:t>(One time: create a Zenodo account, and connect to GitHub)</a:t>
            </a:r>
          </a:p>
          <a:p>
            <a:pPr lvl="1"/>
            <a:r>
              <a:rPr lang="en-NO" dirty="0"/>
              <a:t>Log into Zenodo account, toggle a repo “on”</a:t>
            </a:r>
          </a:p>
          <a:p>
            <a:pPr lvl="1"/>
            <a:r>
              <a:rPr lang="en-NO" dirty="0"/>
              <a:t>“Cut” a release on GitHub</a:t>
            </a:r>
          </a:p>
          <a:p>
            <a:pPr lvl="1"/>
            <a:r>
              <a:rPr lang="en-NO" dirty="0"/>
              <a:t>Sync on Zenodo to get minted DOI</a:t>
            </a:r>
          </a:p>
          <a:p>
            <a:endParaRPr lang="en-NO" dirty="0"/>
          </a:p>
          <a:p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49F9BE-A5A5-E87A-C032-366EAC2B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28D65-F8C8-603A-87A3-D2804E97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85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8DD4-F6E9-8509-7365-854834EF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53C843-F26F-92D7-8DE8-B04E5A218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When to do this?</a:t>
            </a:r>
          </a:p>
          <a:p>
            <a:endParaRPr lang="en-NO" dirty="0"/>
          </a:p>
          <a:p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FAF566-16E3-9656-1B66-8772EBFE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9D0D1-1C7D-BCA4-C976-66A14652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54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E992-CAD6-3A90-3903-DBD44EE2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B4344A-DAB5-783F-FC0F-75EE6D600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Optionally include a Citation.cff file </a:t>
            </a:r>
          </a:p>
          <a:p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r>
              <a:rPr lang="en-GB" dirty="0">
                <a:hlinkClick r:id="rId2"/>
              </a:rPr>
              <a:t>https://github.com/psychgen/scz-prs-psychopathol-dev/blob/1.0.0/CITATION.cff</a:t>
            </a:r>
            <a:r>
              <a:rPr lang="en-GB" dirty="0"/>
              <a:t> </a:t>
            </a:r>
            <a:endParaRPr lang="en-NO" dirty="0"/>
          </a:p>
          <a:p>
            <a:endParaRPr lang="en-NO" dirty="0"/>
          </a:p>
          <a:p>
            <a:endParaRPr lang="en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69146-531F-1177-C3E6-B53FACBB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Code sharing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BF1F0-4883-0C27-202D-9843C6C9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666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9716DF-7B08-0ADD-98FD-F36A0D69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Join the ORS working group!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DA0AE-1C54-482C-9167-54B71976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B1AC9C-8A24-16BC-AAFC-4645C60C5835}"/>
              </a:ext>
            </a:extLst>
          </p:cNvPr>
          <p:cNvCxnSpPr/>
          <p:nvPr/>
        </p:nvCxnSpPr>
        <p:spPr>
          <a:xfrm>
            <a:off x="6096000" y="2372931"/>
            <a:ext cx="0" cy="262729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F86A6A-CD9B-409E-2B2E-8D7BCCDB46A1}"/>
              </a:ext>
            </a:extLst>
          </p:cNvPr>
          <p:cNvCxnSpPr>
            <a:cxnSpLocks/>
          </p:cNvCxnSpPr>
          <p:nvPr/>
        </p:nvCxnSpPr>
        <p:spPr>
          <a:xfrm flipH="1">
            <a:off x="6096000" y="5000222"/>
            <a:ext cx="406355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C5411D-E959-0FFF-C805-48C659985612}"/>
              </a:ext>
            </a:extLst>
          </p:cNvPr>
          <p:cNvSpPr txBox="1"/>
          <p:nvPr/>
        </p:nvSpPr>
        <p:spPr>
          <a:xfrm>
            <a:off x="6337235" y="5322193"/>
            <a:ext cx="3765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Plus Jakarta Sans" pitchFamily="2" charset="77"/>
                <a:cs typeface="Plus Jakarta Sans" pitchFamily="2" charset="77"/>
              </a:rPr>
              <a:t>Time spent in ORS working group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FC901-E8E6-C8BE-4F74-604B3018E19F}"/>
              </a:ext>
            </a:extLst>
          </p:cNvPr>
          <p:cNvSpPr txBox="1"/>
          <p:nvPr/>
        </p:nvSpPr>
        <p:spPr>
          <a:xfrm>
            <a:off x="4212221" y="3429000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Plus Jakarta Sans" pitchFamily="2" charset="77"/>
                <a:cs typeface="Plus Jakarta Sans" pitchFamily="2" charset="77"/>
              </a:rPr>
              <a:t>Quality of life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41DE27-5581-AF35-0C07-ECE92157DDD9}"/>
              </a:ext>
            </a:extLst>
          </p:cNvPr>
          <p:cNvCxnSpPr/>
          <p:nvPr/>
        </p:nvCxnSpPr>
        <p:spPr>
          <a:xfrm flipV="1">
            <a:off x="6337235" y="2511380"/>
            <a:ext cx="3592376" cy="216365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79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26330</TotalTime>
  <Words>771</Words>
  <Application>Microsoft Macintosh PowerPoint</Application>
  <PresentationFormat>Widescreen</PresentationFormat>
  <Paragraphs>154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Cordia New</vt:lpstr>
      <vt:lpstr>Plus Jakarta Sans</vt:lpstr>
      <vt:lpstr>Office Theme</vt:lpstr>
      <vt:lpstr>Update on best practices in preregistration and code sharing  PsychGen Friday meeting, 18 September 2026  </vt:lpstr>
      <vt:lpstr>PowerPoint Presentation</vt:lpstr>
      <vt:lpstr>Preregistration – a reminder</vt:lpstr>
      <vt:lpstr>Preregistration – a reminder</vt:lpstr>
      <vt:lpstr>Preregistration – a reminder</vt:lpstr>
      <vt:lpstr>Preregistration – a reminder</vt:lpstr>
      <vt:lpstr>Preregistration – a reminder</vt:lpstr>
      <vt:lpstr>Preregistration – a reminder</vt:lpstr>
      <vt:lpstr>Preregistration – a reminder</vt:lpstr>
      <vt:lpstr>Preregistration – best practices</vt:lpstr>
      <vt:lpstr>Preregistration – best practices</vt:lpstr>
      <vt:lpstr>Preregistration – best practices</vt:lpstr>
      <vt:lpstr>Preregistration – best practices</vt:lpstr>
      <vt:lpstr>Code sharing – a reminder</vt:lpstr>
      <vt:lpstr>Code sharing – a reminder</vt:lpstr>
      <vt:lpstr>Code sharing – best practices</vt:lpstr>
      <vt:lpstr>Code sharing – best practices</vt:lpstr>
      <vt:lpstr>Code sharing – best practices</vt:lpstr>
      <vt:lpstr>Code sharing – best practices</vt:lpstr>
      <vt:lpstr>Code sharing – best practices</vt:lpstr>
      <vt:lpstr>Code sharing – best practices</vt:lpstr>
      <vt:lpstr>Code sharing – best practices</vt:lpstr>
      <vt:lpstr>Code sharing – best practices</vt:lpstr>
      <vt:lpstr>Join the ORS working group!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Laurie Hannigan</dc:creator>
  <cp:lastModifiedBy>Laurie Hannigan</cp:lastModifiedBy>
  <cp:revision>156</cp:revision>
  <dcterms:created xsi:type="dcterms:W3CDTF">2023-04-11T14:17:46Z</dcterms:created>
  <dcterms:modified xsi:type="dcterms:W3CDTF">2026-09-18T07:51:38Z</dcterms:modified>
</cp:coreProperties>
</file>